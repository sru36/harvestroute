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19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3" r:id="rId10"/>
    <p:sldId id="264" r:id="rId11"/>
    <p:sldId id="265" r:id="rId12"/>
  </p:sldIdLst>
  <p:sldSz cx="12191365" cy="6858000"/>
  <p:notesSz cx="6858000" cy="12191365"/>
  <p:embeddedFontLst>
    <p:embeddedFont>
      <p:font typeface="Host Grotesk Bold" panose="020B0504030402000203" pitchFamily="34" charset="0"/>
      <p:bold r:id="rId16"/>
    </p:embeddedFont>
    <p:embeddedFont>
      <p:font typeface="Host Grotesk Bold" panose="020B0504030402000203" pitchFamily="34" charset="-122"/>
      <p:bold r:id="rId17"/>
    </p:embeddedFont>
    <p:embeddedFont>
      <p:font typeface="Host Grotesk Bold" panose="020B0504030402000203" pitchFamily="34" charset="-120"/>
      <p:bold r:id="rId18"/>
    </p:embeddedFont>
    <p:embeddedFont>
      <p:font typeface="Hepta Slab SemiBold" pitchFamily="34" charset="0"/>
      <p:bold r:id="rId19"/>
    </p:embeddedFont>
    <p:embeddedFont>
      <p:font typeface="Hepta Slab SemiBold" pitchFamily="34" charset="-122"/>
      <p:bold r:id="rId20"/>
    </p:embeddedFont>
    <p:embeddedFont>
      <p:font typeface="Hepta Slab SemiBold" pitchFamily="34" charset="-120"/>
      <p:bold r:id="rId21"/>
    </p:embeddedFont>
    <p:embeddedFont>
      <p:font typeface="Host Grotesk SemiBold" panose="020B0504030402000203" pitchFamily="34" charset="0"/>
      <p:bold r:id="rId22"/>
    </p:embeddedFont>
    <p:embeddedFont>
      <p:font typeface="Host Grotesk SemiBold" panose="020B0504030402000203" pitchFamily="34" charset="-122"/>
      <p:bold r:id="rId23"/>
    </p:embeddedFont>
    <p:embeddedFont>
      <p:font typeface="Host Grotesk SemiBold" panose="020B0504030402000203" pitchFamily="34" charset="-120"/>
      <p:bold r:id="rId24"/>
    </p:embeddedFont>
    <p:embeddedFont>
      <p:font typeface="Host Grotesk Medium" panose="020B0504030402000203" pitchFamily="34" charset="0"/>
      <p:regular r:id="rId25"/>
    </p:embeddedFont>
    <p:embeddedFont>
      <p:font typeface="Host Grotesk Medium" panose="020B0504030402000203" pitchFamily="34" charset="-122"/>
      <p:regular r:id="rId26"/>
    </p:embeddedFont>
    <p:embeddedFont>
      <p:font typeface="Host Grotesk Medium" panose="020B0504030402000203" pitchFamily="34" charset="-120"/>
      <p:regular r:id="rId27"/>
    </p:embeddedFont>
    <p:embeddedFont>
      <p:font typeface="Host Grotesk" panose="020B0504030402000203" pitchFamily="34" charset="0"/>
      <p:regular r:id="rId28"/>
    </p:embeddedFont>
    <p:embeddedFont>
      <p:font typeface="Host Grotesk" panose="020B0504030402000203" pitchFamily="34" charset="-122"/>
      <p:regular r:id="rId29"/>
    </p:embeddedFont>
    <p:embeddedFont>
      <p:font typeface="Host Grotesk" panose="020B0504030402000203" pitchFamily="34" charset="-120"/>
      <p:regular r:id="rId30"/>
    </p:embeddedFont>
    <p:embeddedFont>
      <p:font typeface="Calibri" panose="020F0502020204030204" charset="0"/>
      <p:regular r:id="rId31"/>
      <p:bold r:id="rId32"/>
      <p:italic r:id="rId33"/>
      <p:boldItalic r:id="rId3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font" Target="fonts/font19.fntdata"/><Relationship Id="rId33" Type="http://schemas.openxmlformats.org/officeDocument/2006/relationships/font" Target="fonts/font18.fntdata"/><Relationship Id="rId32" Type="http://schemas.openxmlformats.org/officeDocument/2006/relationships/font" Target="fonts/font17.fntdata"/><Relationship Id="rId31" Type="http://schemas.openxmlformats.org/officeDocument/2006/relationships/font" Target="fonts/font16.fntdata"/><Relationship Id="rId30" Type="http://schemas.openxmlformats.org/officeDocument/2006/relationships/font" Target="fonts/font15.fntdata"/><Relationship Id="rId3" Type="http://schemas.openxmlformats.org/officeDocument/2006/relationships/slide" Target="slides/slide1.xml"/><Relationship Id="rId29" Type="http://schemas.openxmlformats.org/officeDocument/2006/relationships/font" Target="fonts/font14.fntdata"/><Relationship Id="rId28" Type="http://schemas.openxmlformats.org/officeDocument/2006/relationships/font" Target="fonts/font13.fntdata"/><Relationship Id="rId27" Type="http://schemas.openxmlformats.org/officeDocument/2006/relationships/font" Target="fonts/font12.fntdata"/><Relationship Id="rId26" Type="http://schemas.openxmlformats.org/officeDocument/2006/relationships/font" Target="fonts/font11.fntdata"/><Relationship Id="rId25" Type="http://schemas.openxmlformats.org/officeDocument/2006/relationships/font" Target="fonts/font10.fntdata"/><Relationship Id="rId24" Type="http://schemas.openxmlformats.org/officeDocument/2006/relationships/font" Target="fonts/font9.fntdata"/><Relationship Id="rId23" Type="http://schemas.openxmlformats.org/officeDocument/2006/relationships/font" Target="fonts/font8.fntdata"/><Relationship Id="rId22" Type="http://schemas.openxmlformats.org/officeDocument/2006/relationships/font" Target="fonts/font7.fntdata"/><Relationship Id="rId21" Type="http://schemas.openxmlformats.org/officeDocument/2006/relationships/font" Target="fonts/font6.fntdata"/><Relationship Id="rId20" Type="http://schemas.openxmlformats.org/officeDocument/2006/relationships/font" Target="fonts/font5.fntdata"/><Relationship Id="rId2" Type="http://schemas.openxmlformats.org/officeDocument/2006/relationships/theme" Target="theme/theme1.xml"/><Relationship Id="rId19" Type="http://schemas.openxmlformats.org/officeDocument/2006/relationships/font" Target="fonts/font4.fntdata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E2C6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6D8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E2C6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6D8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E2C6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6D8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bg>
      <p:bgPr>
        <a:solidFill>
          <a:srgbClr val="E2C6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6D8"/>
          </a:solidFill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5">
    <p:bg>
      <p:bgPr>
        <a:solidFill>
          <a:srgbClr val="E2C6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6D8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400" y="660400"/>
            <a:ext cx="7239000" cy="4507865"/>
          </a:xfrm>
          <a:custGeom>
            <a:avLst/>
            <a:gdLst/>
            <a:ahLst/>
            <a:cxnLst/>
            <a:rect l="l" t="t" r="r" b="b"/>
            <a:pathLst>
              <a:path w="7238819" h="3180556">
                <a:moveTo>
                  <a:pt x="380990" y="0"/>
                </a:moveTo>
                <a:lnTo>
                  <a:pt x="6654634" y="0"/>
                </a:lnTo>
                <a:arcTo wR="584185" hR="584200" stAng="16200000" swAng="5400000"/>
                <a:lnTo>
                  <a:pt x="7238819" y="2723356"/>
                </a:lnTo>
                <a:arcTo wR="457189" hR="457200" stAng="0" swAng="5400000"/>
                <a:lnTo>
                  <a:pt x="330192" y="3180556"/>
                </a:lnTo>
                <a:arcTo wR="330192" hR="330200" stAng="5400000" swAng="5400000"/>
                <a:lnTo>
                  <a:pt x="0" y="381000"/>
                </a:lnTo>
                <a:arcTo wR="380990" hR="381000" stAng="10800000" swAng="5400000"/>
                <a:close/>
              </a:path>
            </a:pathLst>
          </a:custGeom>
          <a:solidFill>
            <a:srgbClr val="FCF4EC"/>
          </a:solidFill>
        </p:spPr>
      </p:sp>
      <p:sp>
        <p:nvSpPr>
          <p:cNvPr id="3" name="Text 1"/>
          <p:cNvSpPr/>
          <p:nvPr/>
        </p:nvSpPr>
        <p:spPr>
          <a:xfrm>
            <a:off x="1117572" y="1048147"/>
            <a:ext cx="6934027" cy="1825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kern="100" spc="80" dirty="0">
                <a:solidFill>
                  <a:srgbClr val="2F4A8A"/>
                </a:solidFill>
                <a:latin typeface="Host Grotesk Bold" panose="020B0504030402000203" pitchFamily="34" charset="0"/>
                <a:ea typeface="Host Grotesk Bold" panose="020B0504030402000203" pitchFamily="34" charset="-122"/>
                <a:cs typeface="Host Grotesk Bold" panose="020B0504030402000203" pitchFamily="34" charset="-120"/>
              </a:rPr>
              <a:t>AI SYNERGY HACKATHON 2026 • ROUND 1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117572" y="1379664"/>
            <a:ext cx="6324442" cy="6217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800" kern="100" spc="24" dirty="0">
                <a:solidFill>
                  <a:srgbClr val="4E3128"/>
                </a:solidFill>
                <a:latin typeface="Hepta Slab SemiBold" pitchFamily="34" charset="0"/>
                <a:ea typeface="Hepta Slab SemiBold" pitchFamily="34" charset="-122"/>
                <a:cs typeface="Hepta Slab SemiBold" pitchFamily="34" charset="-120"/>
              </a:rPr>
              <a:t>HARVESTROUTE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117572" y="2143990"/>
            <a:ext cx="6324442" cy="5851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800" kern="100" spc="18" dirty="0">
                <a:solidFill>
                  <a:srgbClr val="4E3128"/>
                </a:solidFill>
                <a:latin typeface="Host Grotesk SemiBold" panose="020B0504030402000203" pitchFamily="34" charset="0"/>
                <a:ea typeface="Host Grotesk SemiBold" panose="020B0504030402000203" pitchFamily="34" charset="-122"/>
                <a:cs typeface="Host Grotesk SemiBold" panose="020B0504030402000203" pitchFamily="34" charset="-120"/>
              </a:rPr>
              <a:t>A clearer way to compare where a harvest may actually pay.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17572" y="2889583"/>
            <a:ext cx="6934027" cy="1843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kern="100" spc="44" dirty="0">
                <a:solidFill>
                  <a:srgbClr val="4E3128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Case 02 • Agriculture — The Harvest Decision Window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7600" y="3277235"/>
            <a:ext cx="6294755" cy="15570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kern="100" spc="16" dirty="0">
                <a:solidFill>
                  <a:srgbClr val="4E3128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Team: Casual Tea    Members: Srushti Rawal</a:t>
            </a:r>
            <a:endParaRPr lang="en-US" sz="2000" kern="100" spc="16" dirty="0">
              <a:solidFill>
                <a:srgbClr val="4E3128"/>
              </a:solidFill>
              <a:latin typeface="Host Grotesk Medium" panose="020B0504030402000203" pitchFamily="34" charset="0"/>
              <a:ea typeface="Host Grotesk Medium" panose="020B0504030402000203" pitchFamily="34" charset="-122"/>
              <a:cs typeface="Host Grotesk Medium" panose="020B0504030402000203" pitchFamily="34" charset="-120"/>
            </a:endParaRPr>
          </a:p>
          <a:p>
            <a:pPr marL="0" indent="0" algn="l">
              <a:lnSpc>
                <a:spcPct val="110000"/>
              </a:lnSpc>
              <a:buNone/>
            </a:pPr>
            <a:r>
              <a:rPr lang="en-US" sz="2000" dirty="0"/>
              <a:t>                                                                </a:t>
            </a:r>
            <a:r>
              <a:rPr lang="en-US" sz="2000" kern="100" spc="16" dirty="0">
                <a:solidFill>
                  <a:srgbClr val="4E3128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  <a:sym typeface="+mn-ea"/>
              </a:rPr>
              <a:t>Namya Kalani</a:t>
            </a:r>
            <a:endParaRPr lang="en-US" sz="2000" kern="100" spc="16" dirty="0">
              <a:solidFill>
                <a:srgbClr val="4E3128"/>
              </a:solidFill>
              <a:latin typeface="Host Grotesk Medium" panose="020B0504030402000203" pitchFamily="34" charset="0"/>
              <a:ea typeface="Host Grotesk Medium" panose="020B0504030402000203" pitchFamily="34" charset="-122"/>
              <a:cs typeface="Host Grotesk Medium" panose="020B0504030402000203" pitchFamily="34" charset="-120"/>
            </a:endParaRPr>
          </a:p>
          <a:p>
            <a:pPr marL="0" indent="0" algn="l">
              <a:lnSpc>
                <a:spcPct val="110000"/>
              </a:lnSpc>
              <a:buNone/>
            </a:pPr>
            <a:r>
              <a:rPr lang="en-US" sz="2000" dirty="0"/>
              <a:t>                                                                </a:t>
            </a:r>
            <a:r>
              <a:rPr lang="en-US" sz="2000" kern="100" spc="16" dirty="0">
                <a:solidFill>
                  <a:srgbClr val="4E3128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  <a:sym typeface="+mn-ea"/>
              </a:rPr>
              <a:t>Aditya Tomar</a:t>
            </a:r>
            <a:endParaRPr lang="en-US" sz="2000" kern="100" spc="16" dirty="0">
              <a:solidFill>
                <a:srgbClr val="4E3128"/>
              </a:solidFill>
              <a:latin typeface="Host Grotesk Medium" panose="020B0504030402000203" pitchFamily="34" charset="0"/>
              <a:ea typeface="Host Grotesk Medium" panose="020B0504030402000203" pitchFamily="34" charset="-122"/>
              <a:cs typeface="Host Grotesk Medium" panose="020B0504030402000203" pitchFamily="34" charset="-120"/>
              <a:sym typeface="+mn-ea"/>
            </a:endParaRPr>
          </a:p>
          <a:p>
            <a:pPr marL="0" indent="0" algn="l">
              <a:lnSpc>
                <a:spcPct val="110000"/>
              </a:lnSpc>
              <a:buNone/>
            </a:pPr>
            <a:r>
              <a:rPr lang="en-US" sz="2000" kern="100" spc="16" dirty="0">
                <a:solidFill>
                  <a:srgbClr val="4E3128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  <a:sym typeface="+mn-ea"/>
              </a:rPr>
              <a:t>                                             Aryaman Goyal</a:t>
            </a:r>
            <a:endParaRPr lang="en-US" sz="2000" kern="100" spc="16" dirty="0">
              <a:solidFill>
                <a:srgbClr val="4E3128"/>
              </a:solidFill>
              <a:latin typeface="Host Grotesk Medium" panose="020B0504030402000203" pitchFamily="34" charset="0"/>
              <a:ea typeface="Host Grotesk Medium" panose="020B0504030402000203" pitchFamily="34" charset="-122"/>
              <a:cs typeface="Host Grotesk Medium" panose="020B0504030402000203" pitchFamily="34" charset="-120"/>
            </a:endParaRPr>
          </a:p>
          <a:p>
            <a:pPr marL="0" indent="0" algn="l">
              <a:lnSpc>
                <a:spcPct val="110000"/>
              </a:lnSpc>
              <a:buNone/>
            </a:pPr>
            <a:endParaRPr lang="en-US" sz="2000" dirty="0"/>
          </a:p>
        </p:txBody>
      </p:sp>
      <p:sp>
        <p:nvSpPr>
          <p:cNvPr id="8" name="Rectangle 7"/>
          <p:cNvSpPr/>
          <p:nvPr/>
        </p:nvSpPr>
        <p:spPr>
          <a:xfrm>
            <a:off x="6985" y="6457315"/>
            <a:ext cx="12184380" cy="4000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565547"/>
            <a:ext cx="3930056" cy="1825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100" spc="80" dirty="0">
                <a:solidFill>
                  <a:srgbClr val="2F4A8A"/>
                </a:solidFill>
                <a:latin typeface="Host Grotesk SemiBold" panose="020B0504030402000203" pitchFamily="34" charset="0"/>
                <a:ea typeface="Host Grotesk SemiBold" panose="020B0504030402000203" pitchFamily="34" charset="-122"/>
                <a:cs typeface="Host Grotesk SemiBold" panose="020B0504030402000203" pitchFamily="34" charset="-120"/>
              </a:rPr>
              <a:t>CASE UNDERSTANDING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60383" y="862836"/>
            <a:ext cx="3574464" cy="219422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100" spc="8" dirty="0">
                <a:solidFill>
                  <a:srgbClr val="3A211B"/>
                </a:solidFill>
                <a:latin typeface="Hepta Slab SemiBold" pitchFamily="34" charset="0"/>
                <a:ea typeface="Hepta Slab SemiBold" pitchFamily="34" charset="-122"/>
                <a:cs typeface="Hepta Slab SemiBold" pitchFamily="34" charset="-120"/>
              </a:rPr>
              <a:t>This is a decision problem, not just a data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60383" y="3254609"/>
            <a:ext cx="3930056" cy="1843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kern="100" spc="16" dirty="0">
                <a:solidFill>
                  <a:srgbClr val="4E3128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Official case: Agriculture 02, pp. 5 and 11.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0383" y="3640634"/>
            <a:ext cx="10870928" cy="2690713"/>
          </a:xfrm>
          <a:prstGeom prst="roundRect">
            <a:avLst>
              <a:gd name="adj" fmla="val 6797"/>
            </a:avLst>
          </a:prstGeom>
          <a:solidFill>
            <a:srgbClr val="ECD7C3"/>
          </a:solidFill>
        </p:spPr>
      </p:sp>
      <p:sp>
        <p:nvSpPr>
          <p:cNvPr id="6" name="Text 4"/>
          <p:cNvSpPr/>
          <p:nvPr/>
        </p:nvSpPr>
        <p:spPr>
          <a:xfrm>
            <a:off x="888978" y="3869234"/>
            <a:ext cx="10413739" cy="16712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8000"/>
              </a:lnSpc>
              <a:buSzPct val="100000"/>
              <a:buChar char="•"/>
            </a:pPr>
            <a:r>
              <a:rPr lang="en-US" sz="1600" kern="100" spc="8" dirty="0">
                <a:solidFill>
                  <a:srgbClr val="4E3128"/>
                </a:solidFill>
                <a:latin typeface="Host Grotesk" panose="020B0504030402000203" pitchFamily="34" charset="0"/>
                <a:ea typeface="Host Grotesk" panose="020B0504030402000203" pitchFamily="34" charset="-122"/>
                <a:cs typeface="Host Grotesk" panose="020B0504030402000203" pitchFamily="34" charset="-120"/>
              </a:rPr>
              <a:t>Farmers must choose when and where to sell a highly perishable crop.</a:t>
            </a:r>
            <a:endParaRPr lang="en-US" sz="1600" dirty="0"/>
          </a:p>
          <a:p>
            <a:pPr marL="325120" indent="-325120" algn="l">
              <a:lnSpc>
                <a:spcPct val="118000"/>
              </a:lnSpc>
              <a:buSzPct val="100000"/>
              <a:buChar char="•"/>
            </a:pPr>
            <a:r>
              <a:rPr lang="en-US" sz="1600" kern="100" spc="8" dirty="0">
                <a:solidFill>
                  <a:srgbClr val="4E3128"/>
                </a:solidFill>
                <a:latin typeface="Host Grotesk" panose="020B0504030402000203" pitchFamily="34" charset="0"/>
                <a:ea typeface="Host Grotesk" panose="020B0504030402000203" pitchFamily="34" charset="-122"/>
                <a:cs typeface="Host Grotesk" panose="020B0504030402000203" pitchFamily="34" charset="-120"/>
              </a:rPr>
              <a:t>Reported prices vary, but the price a particular lot can obtain is uncertain.</a:t>
            </a:r>
            <a:endParaRPr lang="en-US" sz="1600" dirty="0"/>
          </a:p>
          <a:p>
            <a:pPr marL="325120" indent="-325120" algn="l">
              <a:lnSpc>
                <a:spcPct val="118000"/>
              </a:lnSpc>
              <a:buSzPct val="100000"/>
              <a:buChar char="•"/>
            </a:pPr>
            <a:r>
              <a:rPr lang="en-US" sz="1600" kern="100" spc="8" dirty="0">
                <a:solidFill>
                  <a:srgbClr val="4E3128"/>
                </a:solidFill>
                <a:latin typeface="Host Grotesk" panose="020B0504030402000203" pitchFamily="34" charset="0"/>
                <a:ea typeface="Host Grotesk" panose="020B0504030402000203" pitchFamily="34" charset="-122"/>
                <a:cs typeface="Host Grotesk" panose="020B0504030402000203" pitchFamily="34" charset="-120"/>
              </a:rPr>
              <a:t>Transport/loading may erase a distant market’s headline advantage.</a:t>
            </a:r>
            <a:endParaRPr lang="en-US" sz="1600" dirty="0"/>
          </a:p>
          <a:p>
            <a:pPr marL="325120" indent="-325120" algn="l">
              <a:lnSpc>
                <a:spcPct val="118000"/>
              </a:lnSpc>
              <a:buSzPct val="100000"/>
              <a:buChar char="•"/>
            </a:pPr>
            <a:r>
              <a:rPr lang="en-US" sz="1600" kern="100" spc="8" dirty="0">
                <a:solidFill>
                  <a:srgbClr val="4E3128"/>
                </a:solidFill>
                <a:latin typeface="Host Grotesk" panose="020B0504030402000203" pitchFamily="34" charset="0"/>
                <a:ea typeface="Host Grotesk" panose="020B0504030402000203" pitchFamily="34" charset="-122"/>
                <a:cs typeface="Host Grotesk" panose="020B0504030402000203" pitchFamily="34" charset="-120"/>
              </a:rPr>
              <a:t>Connectivity is intermittent and trusted local relationships matter.</a:t>
            </a:r>
            <a:endParaRPr lang="en-US" sz="1600" dirty="0"/>
          </a:p>
          <a:p>
            <a:pPr marL="325120" indent="-325120" algn="l">
              <a:lnSpc>
                <a:spcPct val="118000"/>
              </a:lnSpc>
              <a:buSzPct val="100000"/>
              <a:buChar char="•"/>
            </a:pPr>
            <a:r>
              <a:rPr lang="en-US" sz="1600" kern="100" spc="8" dirty="0">
                <a:solidFill>
                  <a:srgbClr val="4E3128"/>
                </a:solidFill>
                <a:latin typeface="Host Grotesk" panose="020B0504030402000203" pitchFamily="34" charset="0"/>
                <a:ea typeface="Host Grotesk" panose="020B0504030402000203" pitchFamily="34" charset="-122"/>
                <a:cs typeface="Host Grotesk" panose="020B0504030402000203" pitchFamily="34" charset="-120"/>
              </a:rPr>
              <a:t>The case’s numbers are simulated competition inputs, not verified local statistics.</a:t>
            </a:r>
            <a:endParaRPr lang="en-US" sz="1600" dirty="0"/>
          </a:p>
        </p:txBody>
      </p:sp>
      <p:sp>
        <p:nvSpPr>
          <p:cNvPr id="8" name="Rectangle 7"/>
          <p:cNvSpPr/>
          <p:nvPr/>
        </p:nvSpPr>
        <p:spPr>
          <a:xfrm>
            <a:off x="6985" y="6457315"/>
            <a:ext cx="12184380" cy="4000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63947"/>
            <a:ext cx="7569011" cy="1825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100" spc="80" dirty="0">
                <a:solidFill>
                  <a:srgbClr val="2F4A8A"/>
                </a:solidFill>
                <a:latin typeface="Host Grotesk SemiBold" panose="020B0504030402000203" pitchFamily="34" charset="0"/>
                <a:ea typeface="Host Grotesk SemiBold" panose="020B0504030402000203" pitchFamily="34" charset="-122"/>
                <a:cs typeface="Host Grotesk SemiBold" panose="020B0504030402000203" pitchFamily="34" charset="-120"/>
              </a:rPr>
              <a:t>MAP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58786" y="761236"/>
            <a:ext cx="7213420" cy="87768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100" spc="8" dirty="0">
                <a:solidFill>
                  <a:srgbClr val="3A211B"/>
                </a:solidFill>
                <a:latin typeface="Hepta Slab SemiBold" pitchFamily="34" charset="0"/>
                <a:ea typeface="Hepta Slab SemiBold" pitchFamily="34" charset="-122"/>
                <a:cs typeface="Hepta Slab SemiBold" pitchFamily="34" charset="-120"/>
              </a:rPr>
              <a:t>Who is affected—and what do we still not know?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58786" y="1834952"/>
            <a:ext cx="3530512" cy="2086769"/>
          </a:xfrm>
          <a:prstGeom prst="roundRect">
            <a:avLst>
              <a:gd name="adj" fmla="val 8764"/>
            </a:avLst>
          </a:prstGeom>
          <a:solidFill>
            <a:srgbClr val="ECD7C3"/>
          </a:solidFill>
        </p:spPr>
      </p:sp>
      <p:sp>
        <p:nvSpPr>
          <p:cNvPr id="5" name="Text 3"/>
          <p:cNvSpPr/>
          <p:nvPr/>
        </p:nvSpPr>
        <p:spPr>
          <a:xfrm>
            <a:off x="761981" y="2012752"/>
            <a:ext cx="3124122" cy="17311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b="1" kern="100" spc="8" dirty="0">
                <a:solidFill>
                  <a:srgbClr val="4E3128"/>
                </a:solidFill>
                <a:latin typeface="Host Grotesk Bold" panose="020B0504030402000203" pitchFamily="34" charset="0"/>
                <a:ea typeface="Host Grotesk Bold" panose="020B0504030402000203" pitchFamily="34" charset="-122"/>
                <a:cs typeface="Host Grotesk Bold" panose="020B0504030402000203" pitchFamily="34" charset="-120"/>
              </a:rPr>
              <a:t>Primary:</a:t>
            </a:r>
            <a:r>
              <a:rPr lang="en-US" sz="1600" kern="100" spc="8" dirty="0">
                <a:solidFill>
                  <a:srgbClr val="4E3128"/>
                </a:solidFill>
                <a:latin typeface="Host Grotesk" panose="020B0504030402000203" pitchFamily="34" charset="0"/>
                <a:ea typeface="Host Grotesk" panose="020B0504030402000203" pitchFamily="34" charset="-122"/>
                <a:cs typeface="Host Grotesk" panose="020B0504030402000203" pitchFamily="34" charset="-120"/>
              </a:rPr>
              <a:t> small and marginal vegetable farmers; other stakeholders include FPOs, aggregators, transporters, traders/market committees and extension workers.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41694" y="1834952"/>
            <a:ext cx="3530512" cy="2086769"/>
          </a:xfrm>
          <a:prstGeom prst="roundRect">
            <a:avLst>
              <a:gd name="adj" fmla="val 8764"/>
            </a:avLst>
          </a:prstGeom>
          <a:solidFill>
            <a:srgbClr val="ECD7C3"/>
          </a:solidFill>
        </p:spPr>
      </p:sp>
      <p:sp>
        <p:nvSpPr>
          <p:cNvPr id="7" name="Text 5"/>
          <p:cNvSpPr/>
          <p:nvPr/>
        </p:nvSpPr>
        <p:spPr>
          <a:xfrm>
            <a:off x="4444889" y="2012752"/>
            <a:ext cx="3124122" cy="14426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b="1" kern="100" spc="8" dirty="0">
                <a:solidFill>
                  <a:srgbClr val="4E3128"/>
                </a:solidFill>
                <a:latin typeface="Host Grotesk Bold" panose="020B0504030402000203" pitchFamily="34" charset="0"/>
                <a:ea typeface="Host Grotesk Bold" panose="020B0504030402000203" pitchFamily="34" charset="-122"/>
                <a:cs typeface="Host Grotesk Bold" panose="020B0504030402000203" pitchFamily="34" charset="-120"/>
              </a:rPr>
              <a:t>Unknown:</a:t>
            </a:r>
            <a:r>
              <a:rPr lang="en-US" sz="1600" kern="100" spc="8" dirty="0">
                <a:solidFill>
                  <a:srgbClr val="4E3128"/>
                </a:solidFill>
                <a:latin typeface="Host Grotesk" panose="020B0504030402000203" pitchFamily="34" charset="0"/>
                <a:ea typeface="Host Grotesk" panose="020B0504030402000203" pitchFamily="34" charset="-122"/>
                <a:cs typeface="Host Grotesk" panose="020B0504030402000203" pitchFamily="34" charset="-120"/>
              </a:rPr>
              <a:t> obtainable lot price, grade deductions, route costs by load size, local data freshness and preferred low-connectivity channel.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58786" y="4074120"/>
            <a:ext cx="3530512" cy="1509713"/>
          </a:xfrm>
          <a:prstGeom prst="roundRect">
            <a:avLst>
              <a:gd name="adj" fmla="val 12113"/>
            </a:avLst>
          </a:prstGeom>
          <a:solidFill>
            <a:srgbClr val="ECD7C3"/>
          </a:solidFill>
        </p:spPr>
      </p:sp>
      <p:sp>
        <p:nvSpPr>
          <p:cNvPr id="9" name="Text 7"/>
          <p:cNvSpPr/>
          <p:nvPr/>
        </p:nvSpPr>
        <p:spPr>
          <a:xfrm>
            <a:off x="761981" y="4251920"/>
            <a:ext cx="3124122" cy="11541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b="1" kern="100" spc="8" dirty="0">
                <a:solidFill>
                  <a:srgbClr val="4E3128"/>
                </a:solidFill>
                <a:latin typeface="Host Grotesk Bold" panose="020B0504030402000203" pitchFamily="34" charset="0"/>
                <a:ea typeface="Host Grotesk Bold" panose="020B0504030402000203" pitchFamily="34" charset="-122"/>
                <a:cs typeface="Host Grotesk Bold" panose="020B0504030402000203" pitchFamily="34" charset="-120"/>
              </a:rPr>
              <a:t>Human risk:</a:t>
            </a:r>
            <a:r>
              <a:rPr lang="en-US" sz="1600" kern="100" spc="8" dirty="0">
                <a:solidFill>
                  <a:srgbClr val="4E3128"/>
                </a:solidFill>
                <a:latin typeface="Host Grotesk" panose="020B0504030402000203" pitchFamily="34" charset="0"/>
                <a:ea typeface="Host Grotesk" panose="020B0504030402000203" pitchFamily="34" charset="-122"/>
                <a:cs typeface="Host Grotesk" panose="020B0504030402000203" pitchFamily="34" charset="-120"/>
              </a:rPr>
              <a:t> a wrong recommendation may cost the farmer time, transport money or crop quality.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41694" y="4074120"/>
            <a:ext cx="3530512" cy="1509713"/>
          </a:xfrm>
          <a:prstGeom prst="roundRect">
            <a:avLst>
              <a:gd name="adj" fmla="val 12113"/>
            </a:avLst>
          </a:prstGeom>
          <a:solidFill>
            <a:srgbClr val="ECD7C3"/>
          </a:solidFill>
        </p:spPr>
      </p:sp>
      <p:sp>
        <p:nvSpPr>
          <p:cNvPr id="11" name="Text 9"/>
          <p:cNvSpPr/>
          <p:nvPr/>
        </p:nvSpPr>
        <p:spPr>
          <a:xfrm>
            <a:off x="4444889" y="4251920"/>
            <a:ext cx="3124122" cy="8655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b="1" kern="100" spc="8" dirty="0">
                <a:solidFill>
                  <a:srgbClr val="4E3128"/>
                </a:solidFill>
                <a:latin typeface="Host Grotesk Bold" panose="020B0504030402000203" pitchFamily="34" charset="0"/>
                <a:ea typeface="Host Grotesk Bold" panose="020B0504030402000203" pitchFamily="34" charset="-122"/>
                <a:cs typeface="Host Grotesk Bold" panose="020B0504030402000203" pitchFamily="34" charset="-120"/>
              </a:rPr>
              <a:t>Adoption risk:</a:t>
            </a:r>
            <a:r>
              <a:rPr lang="en-US" sz="1600" kern="100" spc="8" dirty="0">
                <a:solidFill>
                  <a:srgbClr val="4E3128"/>
                </a:solidFill>
                <a:latin typeface="Host Grotesk" panose="020B0504030402000203" pitchFamily="34" charset="0"/>
                <a:ea typeface="Host Grotesk" panose="020B0504030402000203" pitchFamily="34" charset="-122"/>
                <a:cs typeface="Host Grotesk" panose="020B0504030402000203" pitchFamily="34" charset="-120"/>
              </a:rPr>
              <a:t> a technically good app may fail if it ignores trusted routines or unreliable data.</a:t>
            </a:r>
            <a:endParaRPr lang="en-US" sz="16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797" y="457200"/>
            <a:ext cx="3555911" cy="58928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985" y="6457315"/>
            <a:ext cx="12184380" cy="4000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84" y="438547"/>
            <a:ext cx="11531312" cy="1825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100" spc="80" dirty="0">
                <a:solidFill>
                  <a:srgbClr val="2F4A8A"/>
                </a:solidFill>
                <a:latin typeface="Host Grotesk SemiBold" panose="020B0504030402000203" pitchFamily="34" charset="0"/>
                <a:ea typeface="Host Grotesk SemiBold" panose="020B0504030402000203" pitchFamily="34" charset="-122"/>
                <a:cs typeface="Host Grotesk SemiBold" panose="020B0504030402000203" pitchFamily="34" charset="-120"/>
              </a:rPr>
              <a:t>DIVERGE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34984" y="735836"/>
            <a:ext cx="10921727" cy="4388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100" spc="8" dirty="0">
                <a:solidFill>
                  <a:srgbClr val="3A211B"/>
                </a:solidFill>
                <a:latin typeface="Hepta Slab SemiBold" pitchFamily="34" charset="0"/>
                <a:ea typeface="Hepta Slab SemiBold" pitchFamily="34" charset="-122"/>
                <a:cs typeface="Hepta Slab SemiBold" pitchFamily="34" charset="-120"/>
              </a:rPr>
              <a:t>Four plausible problem framings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34984" y="1370707"/>
            <a:ext cx="11531312" cy="2885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kern="100" spc="8" dirty="0">
                <a:solidFill>
                  <a:srgbClr val="4E3128"/>
                </a:solidFill>
                <a:latin typeface="Host Grotesk" panose="020B0504030402000203" pitchFamily="34" charset="0"/>
                <a:ea typeface="Host Grotesk" panose="020B0504030402000203" pitchFamily="34" charset="-122"/>
                <a:cs typeface="Host Grotesk" panose="020B0504030402000203" pitchFamily="34" charset="-120"/>
              </a:rPr>
              <a:t>We choose the framing that can be tested before asking farmers to trust a prediction.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634984" y="1862435"/>
          <a:ext cx="10921727" cy="2419290"/>
        </p:xfrm>
        <a:graphic>
          <a:graphicData uri="http://schemas.openxmlformats.org/drawingml/2006/table">
            <a:tbl>
              <a:tblPr/>
              <a:tblGrid>
                <a:gridCol w="3822604"/>
                <a:gridCol w="7099123"/>
              </a:tblGrid>
              <a:tr h="75225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kern="100" spc="8" dirty="0">
                          <a:solidFill>
                            <a:srgbClr val="4E3128"/>
                          </a:solidFill>
                          <a:latin typeface="Host Grotesk" panose="020B0504030402000203" pitchFamily="34" charset="0"/>
                          <a:ea typeface="Host Grotesk" panose="020B0504030402000203" pitchFamily="34" charset="-122"/>
                          <a:cs typeface="Host Grotesk" panose="020B0504030402000203" pitchFamily="34" charset="-120"/>
                        </a:rPr>
                        <a:t>Price discovery</a:t>
                      </a:r>
                      <a:endParaRPr lang="en-US" sz="1600" dirty="0">
                        <a:latin typeface="Host Grotesk" panose="020B0504030402000203" pitchFamily="34" charset="0"/>
                        <a:ea typeface="Host Grotesk" panose="020B0504030402000203" pitchFamily="34" charset="0"/>
                        <a:cs typeface="Host Grotesk" panose="020B0504030402000203" pitchFamily="34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kern="100" spc="8" dirty="0">
                          <a:solidFill>
                            <a:srgbClr val="4E3128"/>
                          </a:solidFill>
                          <a:latin typeface="Host Grotesk" panose="020B0504030402000203" pitchFamily="34" charset="0"/>
                          <a:ea typeface="Host Grotesk" panose="020B0504030402000203" pitchFamily="34" charset="-122"/>
                          <a:cs typeface="Host Grotesk" panose="020B0504030402000203" pitchFamily="34" charset="-120"/>
                        </a:rPr>
                        <a:t>useful, but reported prices already exist and may not be achievable for the farmer’s lot.</a:t>
                      </a:r>
                      <a:endParaRPr lang="en-US" sz="1600" dirty="0">
                        <a:latin typeface="Host Grotesk" panose="020B0504030402000203" pitchFamily="34" charset="0"/>
                        <a:ea typeface="Host Grotesk" panose="020B0504030402000203" pitchFamily="34" charset="0"/>
                        <a:cs typeface="Host Grotesk" panose="020B0504030402000203" pitchFamily="34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6373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kern="100" spc="8" dirty="0">
                          <a:solidFill>
                            <a:srgbClr val="4E3128"/>
                          </a:solidFill>
                          <a:latin typeface="Host Grotesk" panose="020B0504030402000203" pitchFamily="34" charset="0"/>
                          <a:ea typeface="Host Grotesk" panose="020B0504030402000203" pitchFamily="34" charset="-122"/>
                          <a:cs typeface="Host Grotesk" panose="020B0504030402000203" pitchFamily="34" charset="-120"/>
                        </a:rPr>
                        <a:t>Price / harvest prediction</a:t>
                      </a:r>
                      <a:endParaRPr lang="en-US" sz="1600" dirty="0">
                        <a:latin typeface="Host Grotesk" panose="020B0504030402000203" pitchFamily="34" charset="0"/>
                        <a:ea typeface="Host Grotesk" panose="020B0504030402000203" pitchFamily="34" charset="0"/>
                        <a:cs typeface="Host Grotesk" panose="020B0504030402000203" pitchFamily="34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kern="100" spc="8" dirty="0">
                          <a:solidFill>
                            <a:srgbClr val="4E3128"/>
                          </a:solidFill>
                          <a:latin typeface="Host Grotesk" panose="020B0504030402000203" pitchFamily="34" charset="0"/>
                          <a:ea typeface="Host Grotesk" panose="020B0504030402000203" pitchFamily="34" charset="-122"/>
                          <a:cs typeface="Host Grotesk" panose="020B0504030402000203" pitchFamily="34" charset="-120"/>
                        </a:rPr>
                        <a:t>potentially useful, but data-hungry and risky if local validation is weak.</a:t>
                      </a:r>
                      <a:endParaRPr lang="en-US" sz="1600" dirty="0">
                        <a:latin typeface="Host Grotesk" panose="020B0504030402000203" pitchFamily="34" charset="0"/>
                        <a:ea typeface="Host Grotesk" panose="020B0504030402000203" pitchFamily="34" charset="0"/>
                        <a:cs typeface="Host Grotesk" panose="020B0504030402000203" pitchFamily="34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6373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kern="100" spc="8" dirty="0">
                          <a:solidFill>
                            <a:srgbClr val="4E3128"/>
                          </a:solidFill>
                          <a:latin typeface="Host Grotesk" panose="020B0504030402000203" pitchFamily="34" charset="0"/>
                          <a:ea typeface="Host Grotesk" panose="020B0504030402000203" pitchFamily="34" charset="-122"/>
                          <a:cs typeface="Host Grotesk" panose="020B0504030402000203" pitchFamily="34" charset="-120"/>
                        </a:rPr>
                        <a:t>Collective selling / shared transport</a:t>
                      </a:r>
                      <a:endParaRPr lang="en-US" sz="1600" dirty="0">
                        <a:latin typeface="Host Grotesk" panose="020B0504030402000203" pitchFamily="34" charset="0"/>
                        <a:ea typeface="Host Grotesk" panose="020B0504030402000203" pitchFamily="34" charset="0"/>
                        <a:cs typeface="Host Grotesk" panose="020B0504030402000203" pitchFamily="34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kern="100" spc="8" dirty="0">
                          <a:solidFill>
                            <a:srgbClr val="4E3128"/>
                          </a:solidFill>
                          <a:latin typeface="Host Grotesk" panose="020B0504030402000203" pitchFamily="34" charset="0"/>
                          <a:ea typeface="Host Grotesk" panose="020B0504030402000203" pitchFamily="34" charset="-122"/>
                          <a:cs typeface="Host Grotesk" panose="020B0504030402000203" pitchFamily="34" charset="-120"/>
                        </a:rPr>
                        <a:t>could help, but needs coordination, volume and operational partners.</a:t>
                      </a:r>
                      <a:endParaRPr lang="en-US" sz="1600" dirty="0">
                        <a:latin typeface="Host Grotesk" panose="020B0504030402000203" pitchFamily="34" charset="0"/>
                        <a:ea typeface="Host Grotesk" panose="020B0504030402000203" pitchFamily="34" charset="0"/>
                        <a:cs typeface="Host Grotesk" panose="020B0504030402000203" pitchFamily="34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73955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kern="100" spc="8" dirty="0">
                          <a:solidFill>
                            <a:srgbClr val="000000"/>
                          </a:solidFill>
                          <a:latin typeface="Host Grotesk" panose="020B0504030402000203" pitchFamily="34" charset="0"/>
                          <a:ea typeface="Host Grotesk" panose="020B0504030402000203" pitchFamily="34" charset="-122"/>
                          <a:cs typeface="Host Grotesk" panose="020B0504030402000203" pitchFamily="34" charset="-120"/>
                        </a:rPr>
                        <a:t>Net-realisation comparison</a:t>
                      </a:r>
                      <a:endParaRPr lang="en-US" sz="1600" dirty="0">
                        <a:latin typeface="Host Grotesk" panose="020B0504030402000203" pitchFamily="34" charset="0"/>
                        <a:ea typeface="Host Grotesk" panose="020B0504030402000203" pitchFamily="34" charset="0"/>
                        <a:cs typeface="Host Grotesk" panose="020B0504030402000203" pitchFamily="34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9DBF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kern="100" spc="8" dirty="0">
                          <a:solidFill>
                            <a:srgbClr val="000000"/>
                          </a:solidFill>
                          <a:latin typeface="Host Grotesk" panose="020B0504030402000203" pitchFamily="34" charset="0"/>
                          <a:ea typeface="Host Grotesk" panose="020B0504030402000203" pitchFamily="34" charset="-122"/>
                          <a:cs typeface="Host Grotesk" panose="020B0504030402000203" pitchFamily="34" charset="-120"/>
                        </a:rPr>
                        <a:t>narrowest testable option that accounts for price, grade, costs and data quality.</a:t>
                      </a:r>
                      <a:endParaRPr lang="en-US" sz="1600" dirty="0">
                        <a:latin typeface="Host Grotesk" panose="020B0504030402000203" pitchFamily="34" charset="0"/>
                        <a:ea typeface="Host Grotesk" panose="020B0504030402000203" pitchFamily="34" charset="0"/>
                        <a:cs typeface="Host Grotesk" panose="020B0504030402000203" pitchFamily="34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9DBF6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34984" y="2601993"/>
            <a:ext cx="10921727" cy="12700"/>
          </a:xfrm>
          <a:prstGeom prst="rect">
            <a:avLst/>
          </a:prstGeom>
          <a:solidFill>
            <a:srgbClr val="3A211B">
              <a:alpha val="18000"/>
            </a:srgbClr>
          </a:solidFill>
        </p:spPr>
      </p:sp>
      <p:sp>
        <p:nvSpPr>
          <p:cNvPr id="7" name="Shape 4"/>
          <p:cNvSpPr/>
          <p:nvPr/>
        </p:nvSpPr>
        <p:spPr>
          <a:xfrm>
            <a:off x="634984" y="3065730"/>
            <a:ext cx="10921727" cy="12700"/>
          </a:xfrm>
          <a:prstGeom prst="rect">
            <a:avLst/>
          </a:prstGeom>
          <a:solidFill>
            <a:srgbClr val="3A211B">
              <a:alpha val="18000"/>
            </a:srgbClr>
          </a:solidFill>
        </p:spPr>
      </p:sp>
      <p:sp>
        <p:nvSpPr>
          <p:cNvPr id="8" name="Shape 5"/>
          <p:cNvSpPr/>
          <p:nvPr/>
        </p:nvSpPr>
        <p:spPr>
          <a:xfrm>
            <a:off x="634984" y="3529467"/>
            <a:ext cx="10921727" cy="12700"/>
          </a:xfrm>
          <a:prstGeom prst="rect">
            <a:avLst/>
          </a:prstGeom>
          <a:solidFill>
            <a:srgbClr val="3A211B">
              <a:alpha val="18000"/>
            </a:srgbClr>
          </a:solidFill>
        </p:spPr>
      </p:sp>
      <p:sp>
        <p:nvSpPr>
          <p:cNvPr id="9" name="Rectangle 8"/>
          <p:cNvSpPr/>
          <p:nvPr/>
        </p:nvSpPr>
        <p:spPr>
          <a:xfrm>
            <a:off x="6985" y="6457315"/>
            <a:ext cx="12184380" cy="4000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489347"/>
            <a:ext cx="11658308" cy="1825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100" spc="80" dirty="0">
                <a:solidFill>
                  <a:srgbClr val="2F4A8A"/>
                </a:solidFill>
                <a:latin typeface="Host Grotesk SemiBold" panose="020B0504030402000203" pitchFamily="34" charset="0"/>
                <a:ea typeface="Host Grotesk SemiBold" panose="020B0504030402000203" pitchFamily="34" charset="-122"/>
                <a:cs typeface="Host Grotesk SemiBold" panose="020B0504030402000203" pitchFamily="34" charset="-120"/>
              </a:rPr>
              <a:t>INVESTIGATE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3387" y="786636"/>
            <a:ext cx="11124922" cy="87768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100" spc="8" dirty="0">
                <a:solidFill>
                  <a:srgbClr val="3A211B"/>
                </a:solidFill>
                <a:latin typeface="Hepta Slab SemiBold" pitchFamily="34" charset="0"/>
                <a:ea typeface="Hepta Slab SemiBold" pitchFamily="34" charset="-122"/>
                <a:cs typeface="Hepta Slab SemiBold" pitchFamily="34" charset="-120"/>
              </a:rPr>
              <a:t>Existing tools change what a good solution looks like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33387" y="1861876"/>
            <a:ext cx="11658308" cy="1843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kern="100" spc="16" dirty="0">
                <a:solidFill>
                  <a:srgbClr val="4E3128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Source links and what each source can/cannot establish are in the accompanying brief.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3387" y="2247900"/>
            <a:ext cx="3505112" cy="4178300"/>
          </a:xfrm>
          <a:prstGeom prst="roundRect">
            <a:avLst>
              <a:gd name="adj" fmla="val 5217"/>
            </a:avLst>
          </a:prstGeom>
          <a:solidFill>
            <a:srgbClr val="ECD7C3"/>
          </a:solidFill>
        </p:spPr>
      </p:sp>
      <p:sp>
        <p:nvSpPr>
          <p:cNvPr id="6" name="Text 4"/>
          <p:cNvSpPr/>
          <p:nvPr/>
        </p:nvSpPr>
        <p:spPr>
          <a:xfrm>
            <a:off x="812780" y="2508441"/>
            <a:ext cx="2946326" cy="7477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300" kern="100" spc="23" dirty="0">
                <a:solidFill>
                  <a:srgbClr val="3A211B"/>
                </a:solidFill>
                <a:latin typeface="Host Grotesk SemiBold" panose="020B0504030402000203" pitchFamily="34" charset="0"/>
                <a:ea typeface="Host Grotesk SemiBold" panose="020B0504030402000203" pitchFamily="34" charset="-122"/>
                <a:cs typeface="Host Grotesk SemiBold" panose="020B0504030402000203" pitchFamily="34" charset="-120"/>
              </a:rPr>
              <a:t>Reported market information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12780" y="3411538"/>
            <a:ext cx="2946326" cy="24415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600" kern="100" spc="8" dirty="0">
                <a:solidFill>
                  <a:srgbClr val="4E3128"/>
                </a:solidFill>
                <a:latin typeface="Host Grotesk" panose="020B0504030402000203" pitchFamily="34" charset="0"/>
                <a:ea typeface="Host Grotesk" panose="020B0504030402000203" pitchFamily="34" charset="-122"/>
                <a:cs typeface="Host Grotesk" panose="020B0504030402000203" pitchFamily="34" charset="-120"/>
              </a:rPr>
              <a:t>AGMARKNET / OGD: reported daily wholesale min/max/modal prices; modal price is not a guaranteed individual offer.</a:t>
            </a:r>
            <a:endParaRPr lang="en-US" sz="16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600" kern="100" spc="8" dirty="0">
                <a:solidFill>
                  <a:srgbClr val="4E3128"/>
                </a:solidFill>
                <a:latin typeface="Host Grotesk" panose="020B0504030402000203" pitchFamily="34" charset="0"/>
                <a:ea typeface="Host Grotesk" panose="020B0504030402000203" pitchFamily="34" charset="-122"/>
                <a:cs typeface="Host Grotesk" panose="020B0504030402000203" pitchFamily="34" charset="-120"/>
              </a:rPr>
              <a:t>e-NAM: electronic bidding and related workflows in participating markets.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43291" y="2247900"/>
            <a:ext cx="3505112" cy="4178300"/>
          </a:xfrm>
          <a:prstGeom prst="roundRect">
            <a:avLst>
              <a:gd name="adj" fmla="val 5217"/>
            </a:avLst>
          </a:prstGeom>
          <a:solidFill>
            <a:srgbClr val="ECD7C3"/>
          </a:solidFill>
        </p:spPr>
      </p:sp>
      <p:sp>
        <p:nvSpPr>
          <p:cNvPr id="9" name="Text 7"/>
          <p:cNvSpPr/>
          <p:nvPr/>
        </p:nvSpPr>
        <p:spPr>
          <a:xfrm>
            <a:off x="4622684" y="2508441"/>
            <a:ext cx="2946326" cy="7477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300" kern="100" spc="23" dirty="0">
                <a:solidFill>
                  <a:srgbClr val="3A211B"/>
                </a:solidFill>
                <a:latin typeface="Host Grotesk SemiBold" panose="020B0504030402000203" pitchFamily="34" charset="0"/>
                <a:ea typeface="Host Grotesk SemiBold" panose="020B0504030402000203" pitchFamily="34" charset="-122"/>
                <a:cs typeface="Host Grotesk SemiBold" panose="020B0504030402000203" pitchFamily="34" charset="-120"/>
              </a:rPr>
              <a:t>Advisory and marketplace tools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4622684" y="3411538"/>
            <a:ext cx="2946326" cy="215304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600" kern="100" spc="8" dirty="0">
                <a:solidFill>
                  <a:srgbClr val="4E3128"/>
                </a:solidFill>
                <a:latin typeface="Host Grotesk" panose="020B0504030402000203" pitchFamily="34" charset="0"/>
                <a:ea typeface="Host Grotesk" panose="020B0504030402000203" pitchFamily="34" charset="-122"/>
                <a:cs typeface="Host Grotesk" panose="020B0504030402000203" pitchFamily="34" charset="-120"/>
              </a:rPr>
              <a:t>DeHaat Kisan: app listing describes mandi prices, weather/crop advisory and expert access.</a:t>
            </a:r>
            <a:endParaRPr lang="en-US" sz="16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600" kern="100" spc="8" dirty="0">
                <a:solidFill>
                  <a:srgbClr val="4E3128"/>
                </a:solidFill>
                <a:latin typeface="Host Grotesk" panose="020B0504030402000203" pitchFamily="34" charset="0"/>
                <a:ea typeface="Host Grotesk" panose="020B0504030402000203" pitchFamily="34" charset="-122"/>
                <a:cs typeface="Host Grotesk" panose="020B0504030402000203" pitchFamily="34" charset="-120"/>
              </a:rPr>
              <a:t>AgriBazaar / Ninjacart: digital marketplace and supply-chain models already exist.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53196" y="2247900"/>
            <a:ext cx="3505112" cy="4178300"/>
          </a:xfrm>
          <a:prstGeom prst="roundRect">
            <a:avLst>
              <a:gd name="adj" fmla="val 5217"/>
            </a:avLst>
          </a:prstGeom>
          <a:solidFill>
            <a:srgbClr val="E3A07F"/>
          </a:solidFill>
        </p:spPr>
      </p:sp>
      <p:sp>
        <p:nvSpPr>
          <p:cNvPr id="12" name="Text 10"/>
          <p:cNvSpPr/>
          <p:nvPr/>
        </p:nvSpPr>
        <p:spPr>
          <a:xfrm>
            <a:off x="8432589" y="2501900"/>
            <a:ext cx="2946326" cy="8655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b="1" kern="100" spc="8" dirty="0">
                <a:solidFill>
                  <a:srgbClr val="000000"/>
                </a:solidFill>
                <a:latin typeface="Host Grotesk Bold" panose="020B0504030402000203" pitchFamily="34" charset="0"/>
                <a:ea typeface="Host Grotesk Bold" panose="020B0504030402000203" pitchFamily="34" charset="-122"/>
                <a:cs typeface="Host Grotesk Bold" panose="020B0504030402000203" pitchFamily="34" charset="-120"/>
              </a:rPr>
              <a:t>Therefore, “prices + weather + AI chatbot” alone is not a strong differentiator.</a:t>
            </a:r>
            <a:endParaRPr lang="en-US" sz="1600" dirty="0"/>
          </a:p>
        </p:txBody>
      </p:sp>
      <p:sp>
        <p:nvSpPr>
          <p:cNvPr id="13" name="Rectangle 12"/>
          <p:cNvSpPr/>
          <p:nvPr/>
        </p:nvSpPr>
        <p:spPr>
          <a:xfrm>
            <a:off x="6985" y="6457315"/>
            <a:ext cx="12184380" cy="4000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565547"/>
            <a:ext cx="11480513" cy="1825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100" spc="80" dirty="0">
                <a:solidFill>
                  <a:srgbClr val="2F4A8A"/>
                </a:solidFill>
                <a:latin typeface="Host Grotesk SemiBold" panose="020B0504030402000203" pitchFamily="34" charset="0"/>
                <a:ea typeface="Host Grotesk SemiBold" panose="020B0504030402000203" pitchFamily="34" charset="-122"/>
                <a:cs typeface="Host Grotesk SemiBold" panose="020B0504030402000203" pitchFamily="34" charset="-120"/>
              </a:rPr>
              <a:t>DECIDE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60383" y="862836"/>
            <a:ext cx="10870928" cy="4388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100" spc="8" dirty="0">
                <a:solidFill>
                  <a:srgbClr val="3A211B"/>
                </a:solidFill>
                <a:latin typeface="Hepta Slab SemiBold" pitchFamily="34" charset="0"/>
                <a:ea typeface="Hepta Slab SemiBold" pitchFamily="34" charset="-122"/>
                <a:cs typeface="Hepta Slab SemiBold" pitchFamily="34" charset="-120"/>
              </a:rPr>
              <a:t>Our final 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60383" y="1497707"/>
            <a:ext cx="6691939" cy="3975298"/>
          </a:xfrm>
          <a:prstGeom prst="rect">
            <a:avLst/>
          </a:prstGeom>
          <a:solidFill>
            <a:srgbClr val="2F4A8A"/>
          </a:solidFill>
        </p:spPr>
      </p:sp>
      <p:sp>
        <p:nvSpPr>
          <p:cNvPr id="5" name="Text 3"/>
          <p:cNvSpPr/>
          <p:nvPr/>
        </p:nvSpPr>
        <p:spPr>
          <a:xfrm>
            <a:off x="1041374" y="1907790"/>
            <a:ext cx="5929958" cy="326409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200" kern="100" spc="21" dirty="0">
                <a:solidFill>
                  <a:srgbClr val="FFFFFF"/>
                </a:solidFill>
                <a:latin typeface="Hepta Slab SemiBold" pitchFamily="34" charset="0"/>
                <a:ea typeface="Hepta Slab SemiBold" pitchFamily="34" charset="-122"/>
                <a:cs typeface="Hepta Slab SemiBold" pitchFamily="34" charset="-120"/>
              </a:rPr>
              <a:t>Smallholder vegetable farmers lack a reliable, low-connectivity way to compare feasible selling options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657015" y="1497707"/>
            <a:ext cx="3874197" cy="3975298"/>
          </a:xfrm>
          <a:prstGeom prst="roundRect">
            <a:avLst>
              <a:gd name="adj" fmla="val 4720"/>
            </a:avLst>
          </a:prstGeom>
          <a:solidFill>
            <a:srgbClr val="ECD7C3"/>
          </a:solidFill>
        </p:spPr>
      </p:sp>
      <p:sp>
        <p:nvSpPr>
          <p:cNvPr id="7" name="Text 5"/>
          <p:cNvSpPr/>
          <p:nvPr/>
        </p:nvSpPr>
        <p:spPr>
          <a:xfrm>
            <a:off x="8038006" y="1853307"/>
            <a:ext cx="3112216" cy="17311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kern="100" spc="8" dirty="0">
                <a:solidFill>
                  <a:srgbClr val="4E3128"/>
                </a:solidFill>
                <a:latin typeface="Host Grotesk" panose="020B0504030402000203" pitchFamily="34" charset="0"/>
                <a:ea typeface="Host Grotesk" panose="020B0504030402000203" pitchFamily="34" charset="-122"/>
                <a:cs typeface="Host Grotesk" panose="020B0504030402000203" pitchFamily="34" charset="-120"/>
              </a:rPr>
              <a:t>using the price they may actually obtain for their crop/grade and quantity, after route-specific selling costs, while understanding when information is stale, incomplete or uncertain.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60383" y="5676205"/>
            <a:ext cx="10870928" cy="831056"/>
          </a:xfrm>
          <a:prstGeom prst="rect">
            <a:avLst/>
          </a:prstGeom>
          <a:solidFill>
            <a:srgbClr val="9DBF6A"/>
          </a:solidFill>
        </p:spPr>
      </p:sp>
      <p:sp>
        <p:nvSpPr>
          <p:cNvPr id="9" name="Text 7"/>
          <p:cNvSpPr/>
          <p:nvPr/>
        </p:nvSpPr>
        <p:spPr>
          <a:xfrm>
            <a:off x="1015975" y="5803205"/>
            <a:ext cx="10159746" cy="5770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b="1" kern="100" spc="8" dirty="0">
                <a:solidFill>
                  <a:srgbClr val="000000"/>
                </a:solidFill>
                <a:latin typeface="Host Grotesk Bold" panose="020B0504030402000203" pitchFamily="34" charset="0"/>
                <a:ea typeface="Host Grotesk Bold" panose="020B0504030402000203" pitchFamily="34" charset="-122"/>
                <a:cs typeface="Host Grotesk Bold" panose="020B0504030402000203" pitchFamily="34" charset="-120"/>
              </a:rPr>
              <a:t>Why this one:</a:t>
            </a:r>
            <a:r>
              <a:rPr lang="en-US" sz="1600" kern="100" spc="8" dirty="0">
                <a:solidFill>
                  <a:srgbClr val="000000"/>
                </a:solidFill>
                <a:latin typeface="Host Grotesk" panose="020B0504030402000203" pitchFamily="34" charset="0"/>
                <a:ea typeface="Host Grotesk" panose="020B0504030402000203" pitchFamily="34" charset="-122"/>
                <a:cs typeface="Host Grotesk" panose="020B0504030402000203" pitchFamily="34" charset="-120"/>
              </a:rPr>
              <a:t> it addresses the actual selling decision, is more tractable than prediction and can be evaluated against actual sale records.</a:t>
            </a:r>
            <a:endParaRPr lang="en-US" sz="1600" dirty="0"/>
          </a:p>
        </p:txBody>
      </p:sp>
      <p:sp>
        <p:nvSpPr>
          <p:cNvPr id="10" name="Rectangle 9"/>
          <p:cNvSpPr/>
          <p:nvPr/>
        </p:nvSpPr>
        <p:spPr>
          <a:xfrm>
            <a:off x="6985" y="6457315"/>
            <a:ext cx="12184380" cy="4000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87747"/>
            <a:ext cx="11582110" cy="1825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100" spc="80" dirty="0">
                <a:solidFill>
                  <a:srgbClr val="2F4A8A"/>
                </a:solidFill>
                <a:latin typeface="Host Grotesk SemiBold" panose="020B0504030402000203" pitchFamily="34" charset="0"/>
                <a:ea typeface="Host Grotesk SemiBold" panose="020B0504030402000203" pitchFamily="34" charset="-122"/>
                <a:cs typeface="Host Grotesk SemiBold" panose="020B0504030402000203" pitchFamily="34" charset="-120"/>
              </a:rPr>
              <a:t>WORKFLOW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685036"/>
            <a:ext cx="10972526" cy="4388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100" spc="8" dirty="0">
                <a:solidFill>
                  <a:srgbClr val="3A211B"/>
                </a:solidFill>
                <a:latin typeface="Hepta Slab SemiBold" pitchFamily="34" charset="0"/>
                <a:ea typeface="Hepta Slab SemiBold" pitchFamily="34" charset="-122"/>
                <a:cs typeface="Hepta Slab SemiBold" pitchFamily="34" charset="-120"/>
              </a:rPr>
              <a:t>From farmer input to a cautious comparison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557016"/>
            <a:ext cx="5410065" cy="3087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900" kern="100" spc="19" dirty="0">
                <a:solidFill>
                  <a:srgbClr val="3A211B"/>
                </a:solidFill>
                <a:latin typeface="Host Grotesk SemiBold" panose="020B0504030402000203" pitchFamily="34" charset="0"/>
                <a:ea typeface="Host Grotesk SemiBold" panose="020B0504030402000203" pitchFamily="34" charset="-122"/>
                <a:cs typeface="Host Grotesk SemiBold" panose="020B0504030402000203" pitchFamily="34" charset="-120"/>
              </a:rPr>
              <a:t>1. Enter lot details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172046" y="1557016"/>
            <a:ext cx="5410065" cy="3087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900" kern="100" spc="19" dirty="0">
                <a:solidFill>
                  <a:srgbClr val="3A211B"/>
                </a:solidFill>
                <a:latin typeface="Host Grotesk SemiBold" panose="020B0504030402000203" pitchFamily="34" charset="0"/>
                <a:ea typeface="Host Grotesk SemiBold" panose="020B0504030402000203" pitchFamily="34" charset="-122"/>
                <a:cs typeface="Host Grotesk SemiBold" panose="020B0504030402000203" pitchFamily="34" charset="-120"/>
              </a:rPr>
              <a:t>2. retrieve/select matching price records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09585" y="2475385"/>
            <a:ext cx="5410065" cy="3087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900" kern="100" spc="19" dirty="0">
                <a:solidFill>
                  <a:srgbClr val="3A211B"/>
                </a:solidFill>
                <a:latin typeface="Host Grotesk SemiBold" panose="020B0504030402000203" pitchFamily="34" charset="0"/>
                <a:ea typeface="Host Grotesk SemiBold" panose="020B0504030402000203" pitchFamily="34" charset="-122"/>
                <a:cs typeface="Host Grotesk SemiBold" panose="020B0504030402000203" pitchFamily="34" charset="-120"/>
              </a:rPr>
              <a:t>3. validate grade, unit and timestamp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172046" y="2475385"/>
            <a:ext cx="5410065" cy="3087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900" kern="100" spc="19" dirty="0">
                <a:solidFill>
                  <a:srgbClr val="3A211B"/>
                </a:solidFill>
                <a:latin typeface="Host Grotesk SemiBold" panose="020B0504030402000203" pitchFamily="34" charset="0"/>
                <a:ea typeface="Host Grotesk SemiBold" panose="020B0504030402000203" pitchFamily="34" charset="-122"/>
                <a:cs typeface="Host Grotesk SemiBold" panose="020B0504030402000203" pitchFamily="34" charset="-120"/>
              </a:rPr>
              <a:t>4. Confirm costs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09585" y="3393753"/>
            <a:ext cx="5410065" cy="3087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900" kern="100" spc="19" dirty="0">
                <a:solidFill>
                  <a:srgbClr val="3A211B"/>
                </a:solidFill>
                <a:latin typeface="Host Grotesk SemiBold" panose="020B0504030402000203" pitchFamily="34" charset="0"/>
                <a:ea typeface="Host Grotesk SemiBold" panose="020B0504030402000203" pitchFamily="34" charset="-122"/>
                <a:cs typeface="Host Grotesk SemiBold" panose="020B0504030402000203" pitchFamily="34" charset="-120"/>
              </a:rPr>
              <a:t>5. calculate deterministically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172046" y="3393753"/>
            <a:ext cx="5410065" cy="3087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900" kern="100" spc="19" dirty="0">
                <a:solidFill>
                  <a:srgbClr val="3A211B"/>
                </a:solidFill>
                <a:latin typeface="Host Grotesk SemiBold" panose="020B0504030402000203" pitchFamily="34" charset="0"/>
                <a:ea typeface="Host Grotesk SemiBold" panose="020B0504030402000203" pitchFamily="34" charset="-122"/>
                <a:cs typeface="Host Grotesk SemiBold" panose="020B0504030402000203" pitchFamily="34" charset="-120"/>
              </a:rPr>
              <a:t>6. display comparison and uncertainty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09585" y="4075013"/>
            <a:ext cx="5410065" cy="871538"/>
          </a:xfrm>
          <a:prstGeom prst="rect">
            <a:avLst/>
          </a:prstGeom>
          <a:solidFill>
            <a:srgbClr val="9DBF6A"/>
          </a:solidFill>
        </p:spPr>
      </p:sp>
      <p:sp>
        <p:nvSpPr>
          <p:cNvPr id="11" name="Text 9"/>
          <p:cNvSpPr/>
          <p:nvPr/>
        </p:nvSpPr>
        <p:spPr>
          <a:xfrm>
            <a:off x="838179" y="4210522"/>
            <a:ext cx="4952876" cy="6175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900" kern="100" spc="19" dirty="0">
                <a:solidFill>
                  <a:srgbClr val="000000"/>
                </a:solidFill>
                <a:latin typeface="Host Grotesk SemiBold" panose="020B0504030402000203" pitchFamily="34" charset="0"/>
                <a:ea typeface="Host Grotesk SemiBold" panose="020B0504030402000203" pitchFamily="34" charset="-122"/>
                <a:cs typeface="Host Grotesk SemiBold" panose="020B0504030402000203" pitchFamily="34" charset="-120"/>
              </a:rPr>
              <a:t>7. Farmer/facilitator verifies quote and feasibility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172046" y="4075013"/>
            <a:ext cx="5410065" cy="871538"/>
          </a:xfrm>
          <a:prstGeom prst="rect">
            <a:avLst/>
          </a:prstGeom>
          <a:solidFill>
            <a:srgbClr val="E3A07F"/>
          </a:solidFill>
        </p:spPr>
      </p:sp>
      <p:sp>
        <p:nvSpPr>
          <p:cNvPr id="13" name="Text 11"/>
          <p:cNvSpPr/>
          <p:nvPr/>
        </p:nvSpPr>
        <p:spPr>
          <a:xfrm>
            <a:off x="6400640" y="4210522"/>
            <a:ext cx="4952876" cy="3087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900" kern="100" spc="19" dirty="0">
                <a:solidFill>
                  <a:srgbClr val="000000"/>
                </a:solidFill>
                <a:latin typeface="Host Grotesk SemiBold" panose="020B0504030402000203" pitchFamily="34" charset="0"/>
                <a:ea typeface="Host Grotesk SemiBold" panose="020B0504030402000203" pitchFamily="34" charset="-122"/>
                <a:cs typeface="Host Grotesk SemiBold" panose="020B0504030402000203" pitchFamily="34" charset="-120"/>
              </a:rPr>
              <a:t>8. farmer makes the decision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09585" y="5149751"/>
            <a:ext cx="10972526" cy="796528"/>
          </a:xfrm>
          <a:prstGeom prst="roundRect">
            <a:avLst>
              <a:gd name="adj" fmla="val 22959"/>
            </a:avLst>
          </a:prstGeom>
          <a:solidFill>
            <a:srgbClr val="FCF2B5"/>
          </a:solidFill>
        </p:spPr>
      </p:sp>
      <p:sp>
        <p:nvSpPr>
          <p:cNvPr id="15" name="Text 13"/>
          <p:cNvSpPr/>
          <p:nvPr/>
        </p:nvSpPr>
        <p:spPr>
          <a:xfrm>
            <a:off x="812780" y="5403751"/>
            <a:ext cx="11175720" cy="2885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kern="100" spc="8" dirty="0">
                <a:solidFill>
                  <a:srgbClr val="000000"/>
                </a:solidFill>
                <a:latin typeface="Host Grotesk" panose="020B0504030402000203" pitchFamily="34" charset="0"/>
                <a:ea typeface="Host Grotesk" panose="020B0504030402000203" pitchFamily="34" charset="-122"/>
                <a:cs typeface="Host Grotesk" panose="020B0504030402000203" pitchFamily="34" charset="-120"/>
              </a:rPr>
              <a:t>If data are missing, stale or conflicting, the system says so; it does not invent a “best market.”</a:t>
            </a:r>
            <a:endParaRPr lang="en-US" sz="1600" dirty="0"/>
          </a:p>
        </p:txBody>
      </p:sp>
      <p:sp>
        <p:nvSpPr>
          <p:cNvPr id="16" name="Rectangle 15"/>
          <p:cNvSpPr/>
          <p:nvPr/>
        </p:nvSpPr>
        <p:spPr>
          <a:xfrm>
            <a:off x="6985" y="6457315"/>
            <a:ext cx="12184380" cy="4000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38547"/>
            <a:ext cx="11632909" cy="1825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100" spc="80" dirty="0">
                <a:solidFill>
                  <a:srgbClr val="2F4A8A"/>
                </a:solidFill>
                <a:latin typeface="Host Grotesk SemiBold" panose="020B0504030402000203" pitchFamily="34" charset="0"/>
                <a:ea typeface="Host Grotesk SemiBold" panose="020B0504030402000203" pitchFamily="34" charset="-122"/>
                <a:cs typeface="Host Grotesk SemiBold" panose="020B0504030402000203" pitchFamily="34" charset="-120"/>
              </a:rPr>
              <a:t>CALCULATION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58786" y="735836"/>
            <a:ext cx="11074123" cy="4388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100" spc="8" dirty="0">
                <a:solidFill>
                  <a:srgbClr val="3A211B"/>
                </a:solidFill>
                <a:latin typeface="Hepta Slab SemiBold" pitchFamily="34" charset="0"/>
                <a:ea typeface="Hepta Slab SemiBold" pitchFamily="34" charset="-122"/>
                <a:cs typeface="Hepta Slab SemiBold" pitchFamily="34" charset="-120"/>
              </a:rPr>
              <a:t>The number must be explainable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58786" y="1370707"/>
            <a:ext cx="5384665" cy="1592163"/>
          </a:xfrm>
          <a:prstGeom prst="rect">
            <a:avLst/>
          </a:prstGeom>
          <a:solidFill>
            <a:srgbClr val="2F4A8A"/>
          </a:solidFill>
        </p:spPr>
      </p:sp>
      <p:sp>
        <p:nvSpPr>
          <p:cNvPr id="5" name="Text 3"/>
          <p:cNvSpPr/>
          <p:nvPr/>
        </p:nvSpPr>
        <p:spPr>
          <a:xfrm>
            <a:off x="863578" y="1626231"/>
            <a:ext cx="5079873" cy="1843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kern="100" spc="16" dirty="0">
                <a:solidFill>
                  <a:srgbClr val="FFFFFF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SALEABLE QUANTITY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578" y="1942405"/>
            <a:ext cx="4775081" cy="3445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3578" y="2420342"/>
            <a:ext cx="5079873" cy="2885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kern="100" spc="8" dirty="0">
                <a:solidFill>
                  <a:srgbClr val="FFFFFF"/>
                </a:solidFill>
                <a:latin typeface="Host Grotesk" panose="020B0504030402000203" pitchFamily="34" charset="0"/>
                <a:ea typeface="Host Grotesk" panose="020B0504030402000203" pitchFamily="34" charset="-122"/>
                <a:cs typeface="Host Grotesk" panose="020B0504030402000203" pitchFamily="34" charset="-120"/>
              </a:rPr>
              <a:t>with L an explicit loss/downgrade assumption.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48244" y="1370707"/>
            <a:ext cx="5384665" cy="1592163"/>
          </a:xfrm>
          <a:prstGeom prst="rect">
            <a:avLst/>
          </a:prstGeom>
          <a:solidFill>
            <a:srgbClr val="9DBF6A"/>
          </a:solidFill>
        </p:spPr>
      </p:sp>
      <p:sp>
        <p:nvSpPr>
          <p:cNvPr id="9" name="Text 6"/>
          <p:cNvSpPr/>
          <p:nvPr/>
        </p:nvSpPr>
        <p:spPr>
          <a:xfrm>
            <a:off x="6553036" y="1626231"/>
            <a:ext cx="5079873" cy="1843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kern="100" spc="16" dirty="0">
                <a:solidFill>
                  <a:srgbClr val="000000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ESTIMATED NET REALISATION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553036" y="1942405"/>
            <a:ext cx="4775081" cy="5770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kern="100" spc="8" dirty="0">
                <a:solidFill>
                  <a:srgbClr val="000000"/>
                </a:solidFill>
                <a:latin typeface="Host Grotesk" panose="020B0504030402000203" pitchFamily="34" charset="0"/>
                <a:ea typeface="Host Grotesk" panose="020B0504030402000203" pitchFamily="34" charset="-122"/>
                <a:cs typeface="Host Grotesk" panose="020B0504030402000203" pitchFamily="34" charset="-120"/>
              </a:rPr>
              <a:t>saleable quantity × matched price − transport − loading − commission − other selling costs.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58786" y="3267670"/>
            <a:ext cx="5384665" cy="1085056"/>
          </a:xfrm>
          <a:prstGeom prst="roundRect">
            <a:avLst>
              <a:gd name="adj" fmla="val 16854"/>
            </a:avLst>
          </a:prstGeom>
          <a:solidFill>
            <a:srgbClr val="ECD7C3"/>
          </a:solidFill>
        </p:spPr>
      </p:sp>
      <p:sp>
        <p:nvSpPr>
          <p:cNvPr id="12" name="Text 9"/>
          <p:cNvSpPr/>
          <p:nvPr/>
        </p:nvSpPr>
        <p:spPr>
          <a:xfrm>
            <a:off x="863578" y="3521670"/>
            <a:ext cx="4775081" cy="5770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kern="100" spc="8" dirty="0">
                <a:solidFill>
                  <a:srgbClr val="4E3128"/>
                </a:solidFill>
                <a:latin typeface="Host Grotesk" panose="020B0504030402000203" pitchFamily="34" charset="0"/>
                <a:ea typeface="Host Grotesk" panose="020B0504030402000203" pitchFamily="34" charset="-122"/>
                <a:cs typeface="Host Grotesk" panose="020B0504030402000203" pitchFamily="34" charset="-120"/>
              </a:rPr>
              <a:t>Unknown costs are not silently set to zero; incomparable grades or units are not ranked.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248244" y="3267670"/>
            <a:ext cx="5384665" cy="1085056"/>
          </a:xfrm>
          <a:prstGeom prst="rect">
            <a:avLst/>
          </a:prstGeom>
          <a:solidFill>
            <a:srgbClr val="E3A07F"/>
          </a:solidFill>
        </p:spPr>
      </p:sp>
      <p:sp>
        <p:nvSpPr>
          <p:cNvPr id="14" name="Text 11"/>
          <p:cNvSpPr/>
          <p:nvPr/>
        </p:nvSpPr>
        <p:spPr>
          <a:xfrm>
            <a:off x="6553036" y="3521670"/>
            <a:ext cx="4775081" cy="5770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b="1" kern="100" spc="8" dirty="0">
                <a:solidFill>
                  <a:srgbClr val="000000"/>
                </a:solidFill>
                <a:latin typeface="Host Grotesk Bold" panose="020B0504030402000203" pitchFamily="34" charset="0"/>
                <a:ea typeface="Host Grotesk Bold" panose="020B0504030402000203" pitchFamily="34" charset="-122"/>
                <a:cs typeface="Host Grotesk Bold" panose="020B0504030402000203" pitchFamily="34" charset="-120"/>
              </a:rPr>
              <a:t>AI can explain; deterministic code calculates; humans verify; farmer decides.</a:t>
            </a:r>
            <a:endParaRPr lang="en-US" sz="1600" dirty="0"/>
          </a:p>
        </p:txBody>
      </p:sp>
      <p:sp>
        <p:nvSpPr>
          <p:cNvPr id="15" name="Rectangle 14"/>
          <p:cNvSpPr/>
          <p:nvPr/>
        </p:nvSpPr>
        <p:spPr>
          <a:xfrm>
            <a:off x="6985" y="6478905"/>
            <a:ext cx="12184380" cy="4000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489347"/>
            <a:ext cx="11480513" cy="1825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100" spc="80" dirty="0">
                <a:solidFill>
                  <a:srgbClr val="2F4A8A"/>
                </a:solidFill>
                <a:latin typeface="Host Grotesk SemiBold" panose="020B0504030402000203" pitchFamily="34" charset="0"/>
                <a:ea typeface="Host Grotesk SemiBold" panose="020B0504030402000203" pitchFamily="34" charset="-122"/>
                <a:cs typeface="Host Grotesk SemiBold" panose="020B0504030402000203" pitchFamily="34" charset="-120"/>
              </a:rPr>
              <a:t>RESPONSIBLE AI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60383" y="786636"/>
            <a:ext cx="10870928" cy="4388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100" spc="8" dirty="0">
                <a:solidFill>
                  <a:srgbClr val="3A211B"/>
                </a:solidFill>
                <a:latin typeface="Hepta Slab SemiBold" pitchFamily="34" charset="0"/>
                <a:ea typeface="Hepta Slab SemiBold" pitchFamily="34" charset="-122"/>
                <a:cs typeface="Hepta Slab SemiBold" pitchFamily="34" charset="-120"/>
              </a:rPr>
              <a:t>Human-AI collaboration with clear boundaries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60383" y="1421507"/>
            <a:ext cx="5283068" cy="1909366"/>
          </a:xfrm>
          <a:prstGeom prst="rect">
            <a:avLst/>
          </a:prstGeom>
          <a:solidFill>
            <a:srgbClr val="E3A07F"/>
          </a:solidFill>
        </p:spPr>
      </p:sp>
      <p:sp>
        <p:nvSpPr>
          <p:cNvPr id="5" name="Text 3"/>
          <p:cNvSpPr/>
          <p:nvPr/>
        </p:nvSpPr>
        <p:spPr>
          <a:xfrm>
            <a:off x="965176" y="1682048"/>
            <a:ext cx="4673483" cy="3738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300" kern="100" spc="23" dirty="0">
                <a:solidFill>
                  <a:srgbClr val="000000"/>
                </a:solidFill>
                <a:latin typeface="Host Grotesk SemiBold" panose="020B0504030402000203" pitchFamily="34" charset="0"/>
                <a:ea typeface="Host Grotesk SemiBold" panose="020B0504030402000203" pitchFamily="34" charset="-122"/>
                <a:cs typeface="Host Grotesk SemiBold" panose="020B0504030402000203" pitchFamily="34" charset="-120"/>
              </a:rPr>
              <a:t>AI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965176" y="2211288"/>
            <a:ext cx="4673483" cy="8655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kern="100" spc="8" dirty="0">
                <a:solidFill>
                  <a:srgbClr val="000000"/>
                </a:solidFill>
                <a:latin typeface="Host Grotesk" panose="020B0504030402000203" pitchFamily="34" charset="0"/>
                <a:ea typeface="Host Grotesk" panose="020B0504030402000203" pitchFamily="34" charset="-122"/>
                <a:cs typeface="Host Grotesk" panose="020B0504030402000203" pitchFamily="34" charset="-120"/>
              </a:rPr>
              <a:t>optional Hindi/mixed-language input parsing and plain-language explanation grounded in displayed data.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48244" y="1421507"/>
            <a:ext cx="5283068" cy="1909366"/>
          </a:xfrm>
          <a:prstGeom prst="rect">
            <a:avLst/>
          </a:prstGeom>
          <a:solidFill>
            <a:srgbClr val="9DBF6A"/>
          </a:solidFill>
        </p:spPr>
      </p:sp>
      <p:sp>
        <p:nvSpPr>
          <p:cNvPr id="8" name="Text 6"/>
          <p:cNvSpPr/>
          <p:nvPr/>
        </p:nvSpPr>
        <p:spPr>
          <a:xfrm>
            <a:off x="6553036" y="1682048"/>
            <a:ext cx="4673483" cy="3738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300" kern="100" spc="23" dirty="0">
                <a:solidFill>
                  <a:srgbClr val="000000"/>
                </a:solidFill>
                <a:latin typeface="Host Grotesk SemiBold" panose="020B0504030402000203" pitchFamily="34" charset="0"/>
                <a:ea typeface="Host Grotesk SemiBold" panose="020B0504030402000203" pitchFamily="34" charset="-122"/>
                <a:cs typeface="Host Grotesk SemiBold" panose="020B0504030402000203" pitchFamily="34" charset="-120"/>
              </a:rPr>
              <a:t>Code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553036" y="2211288"/>
            <a:ext cx="4673483" cy="5770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kern="100" spc="8" dirty="0">
                <a:solidFill>
                  <a:srgbClr val="000000"/>
                </a:solidFill>
                <a:latin typeface="Host Grotesk" panose="020B0504030402000203" pitchFamily="34" charset="0"/>
                <a:ea typeface="Host Grotesk" panose="020B0504030402000203" pitchFamily="34" charset="-122"/>
                <a:cs typeface="Host Grotesk" panose="020B0504030402000203" pitchFamily="34" charset="-120"/>
              </a:rPr>
              <a:t>unit conversion, arithmetic, freshness checks, input validation and ranking.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60383" y="3635673"/>
            <a:ext cx="5283068" cy="1620838"/>
          </a:xfrm>
          <a:prstGeom prst="rect">
            <a:avLst/>
          </a:prstGeom>
          <a:solidFill>
            <a:srgbClr val="C8DCD2"/>
          </a:solidFill>
        </p:spPr>
      </p:sp>
      <p:sp>
        <p:nvSpPr>
          <p:cNvPr id="11" name="Text 9"/>
          <p:cNvSpPr/>
          <p:nvPr/>
        </p:nvSpPr>
        <p:spPr>
          <a:xfrm>
            <a:off x="965176" y="3896213"/>
            <a:ext cx="4673483" cy="3738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300" kern="100" spc="23" dirty="0">
                <a:solidFill>
                  <a:srgbClr val="000000"/>
                </a:solidFill>
                <a:latin typeface="Host Grotesk SemiBold" panose="020B0504030402000203" pitchFamily="34" charset="0"/>
                <a:ea typeface="Host Grotesk SemiBold" panose="020B0504030402000203" pitchFamily="34" charset="-122"/>
                <a:cs typeface="Host Grotesk SemiBold" panose="020B0504030402000203" pitchFamily="34" charset="-120"/>
              </a:rPr>
              <a:t>Humans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965176" y="4425454"/>
            <a:ext cx="4673483" cy="5770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kern="100" spc="8" dirty="0">
                <a:solidFill>
                  <a:srgbClr val="000000"/>
                </a:solidFill>
                <a:latin typeface="Host Grotesk" panose="020B0504030402000203" pitchFamily="34" charset="0"/>
                <a:ea typeface="Host Grotesk" panose="020B0504030402000203" pitchFamily="34" charset="-122"/>
                <a:cs typeface="Host Grotesk" panose="020B0504030402000203" pitchFamily="34" charset="-120"/>
              </a:rPr>
              <a:t>verify quote, grade, costs and route practicality; farmer retains final authority.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48244" y="3635673"/>
            <a:ext cx="5283068" cy="1620838"/>
          </a:xfrm>
          <a:prstGeom prst="roundRect">
            <a:avLst>
              <a:gd name="adj" fmla="val 11283"/>
            </a:avLst>
          </a:prstGeom>
          <a:noFill/>
          <a:ln w="25399">
            <a:solidFill>
              <a:srgbClr val="D2BDA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78435" y="3915073"/>
            <a:ext cx="4622684" cy="8655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b="1" kern="100" spc="8" dirty="0">
                <a:solidFill>
                  <a:srgbClr val="4E3128"/>
                </a:solidFill>
                <a:latin typeface="Host Grotesk Bold" panose="020B0504030402000203" pitchFamily="34" charset="0"/>
                <a:ea typeface="Host Grotesk Bold" panose="020B0504030402000203" pitchFamily="34" charset="-122"/>
                <a:cs typeface="Host Grotesk Bold" panose="020B0504030402000203" pitchFamily="34" charset="-120"/>
              </a:rPr>
              <a:t>No fabricated prices, autonomous selling, guaranteed income/yield/price claims or unauthorised agronomic/financial advice.</a:t>
            </a:r>
            <a:endParaRPr lang="en-US" sz="1600" dirty="0"/>
          </a:p>
        </p:txBody>
      </p:sp>
      <p:sp>
        <p:nvSpPr>
          <p:cNvPr id="15" name="Rectangle 14"/>
          <p:cNvSpPr/>
          <p:nvPr/>
        </p:nvSpPr>
        <p:spPr>
          <a:xfrm>
            <a:off x="6985" y="6457315"/>
            <a:ext cx="12184380" cy="4000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4298</Words>
  <Application>WPS Presentation</Application>
  <PresentationFormat>On-screen Show (16:9)</PresentationFormat>
  <Paragraphs>144</Paragraphs>
  <Slides>9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31" baseType="lpstr">
      <vt:lpstr>Arial</vt:lpstr>
      <vt:lpstr>SimSun</vt:lpstr>
      <vt:lpstr>Wingdings</vt:lpstr>
      <vt:lpstr>Host Grotesk Bold</vt:lpstr>
      <vt:lpstr>Host Grotesk Bold</vt:lpstr>
      <vt:lpstr>Host Grotesk Bold</vt:lpstr>
      <vt:lpstr>Hepta Slab SemiBold</vt:lpstr>
      <vt:lpstr>Hepta Slab SemiBold</vt:lpstr>
      <vt:lpstr>Hepta Slab SemiBold</vt:lpstr>
      <vt:lpstr>Host Grotesk SemiBold</vt:lpstr>
      <vt:lpstr>Host Grotesk SemiBold</vt:lpstr>
      <vt:lpstr>Host Grotesk SemiBold</vt:lpstr>
      <vt:lpstr>Host Grotesk Medium</vt:lpstr>
      <vt:lpstr>Host Grotesk Medium</vt:lpstr>
      <vt:lpstr>Host Grotesk Medium</vt:lpstr>
      <vt:lpstr>Host Grotesk</vt:lpstr>
      <vt:lpstr>Host Grotesk</vt:lpstr>
      <vt:lpstr>Host Grotesk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Aryaman Goyal</cp:lastModifiedBy>
  <cp:revision>3</cp:revision>
  <dcterms:created xsi:type="dcterms:W3CDTF">2026-10-15T16:16:00Z</dcterms:created>
  <dcterms:modified xsi:type="dcterms:W3CDTF">2026-10-15T16:52:14Z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3547B3F7796943B8A1D94D40109708DE_12</vt:lpwstr>
  </property>
</Properties>
</file>